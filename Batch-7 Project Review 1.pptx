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">
  <p:sldMasterIdLst>
    <p:sldMasterId id="2147483648" r:id="rId1"/>
  </p:sldMasterIdLst>
  <p:sldIdLst>
    <p:sldId id="256" r:id="rId2"/>
    <p:sldId id="257" r:id="rId3"/>
    <p:sldId id="264" r:id="rId4"/>
    <p:sldId id="273" r:id="rId5"/>
    <p:sldId id="258" r:id="rId6"/>
    <p:sldId id="261" r:id="rId7"/>
    <p:sldId id="265" r:id="rId8"/>
    <p:sldId id="260" r:id="rId9"/>
    <p:sldId id="272" r:id="rId10"/>
    <p:sldId id="274" r:id="rId11"/>
    <p:sldId id="266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24BD777-37A9-43A8-B010-53FE3852698E}">
          <p14:sldIdLst>
            <p14:sldId id="256"/>
            <p14:sldId id="257"/>
            <p14:sldId id="264"/>
          </p14:sldIdLst>
        </p14:section>
        <p14:section name="Untitled Section" id="{7307711C-9608-4191-9EEF-59EA12CA526A}">
          <p14:sldIdLst>
            <p14:sldId id="273"/>
            <p14:sldId id="258"/>
            <p14:sldId id="261"/>
            <p14:sldId id="265"/>
            <p14:sldId id="260"/>
            <p14:sldId id="272"/>
            <p14:sldId id="274"/>
            <p14:sldId id="266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02833" y="189781"/>
            <a:ext cx="9144000" cy="2889849"/>
          </a:xfrm>
        </p:spPr>
        <p:txBody>
          <a:bodyPr/>
          <a:lstStyle/>
          <a:p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IN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AND VISUALIZATION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24DSB3101)</a:t>
            </a:r>
            <a:br>
              <a:rPr lang="en-IN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IN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Learning-Based Healthcare Data Analytics for Early Disease Risk Predication </a:t>
            </a:r>
            <a:endParaRPr lang="en-US" sz="3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12567" y="3160701"/>
            <a:ext cx="7324531" cy="2429216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Team Members</a:t>
            </a:r>
          </a:p>
          <a:p>
            <a:pPr algn="l"/>
            <a:r>
              <a:rPr lang="en-US" dirty="0">
                <a:solidFill>
                  <a:srgbClr val="0070C0"/>
                </a:solidFill>
              </a:rPr>
              <a:t>                          </a:t>
            </a:r>
            <a:r>
              <a:rPr lang="en-IN" dirty="0"/>
              <a:t>E. Supraja        -   2420030357</a:t>
            </a:r>
            <a:endParaRPr lang="en-US" dirty="0">
              <a:solidFill>
                <a:srgbClr val="0070C0"/>
              </a:solidFill>
            </a:endParaRPr>
          </a:p>
          <a:p>
            <a:pPr algn="l"/>
            <a:r>
              <a:rPr lang="en-US" dirty="0">
                <a:solidFill>
                  <a:srgbClr val="0070C0"/>
                </a:solidFill>
              </a:rPr>
              <a:t>                          </a:t>
            </a:r>
            <a:r>
              <a:rPr lang="en-IN" dirty="0"/>
              <a:t>M. Varshitha   -   2420030479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IN" dirty="0"/>
              <a:t> C. Keerthana   -   2420030581 </a:t>
            </a:r>
            <a:endParaRPr lang="en-US" dirty="0">
              <a:solidFill>
                <a:srgbClr val="0070C0"/>
              </a:solidFill>
            </a:endParaRPr>
          </a:p>
          <a:p>
            <a:pPr>
              <a:lnSpc>
                <a:spcPct val="100000"/>
              </a:lnSpc>
            </a:pPr>
            <a:r>
              <a:rPr lang="en-IN" dirty="0"/>
              <a:t> CH. Bhargavi    -   2420030588</a:t>
            </a:r>
            <a:br>
              <a:rPr lang="en-US" dirty="0">
                <a:solidFill>
                  <a:srgbClr val="0070C0"/>
                </a:solidFill>
              </a:rPr>
            </a:br>
            <a:endParaRPr lang="en-US" sz="18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 Esteemed Guidance of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r>
              <a:rPr lang="en-IN" dirty="0"/>
              <a:t>Dr . KATANGURI SWAPNIKA (CSE)</a:t>
            </a:r>
            <a:endParaRPr lang="en-US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623966" y="1008025"/>
            <a:ext cx="5130572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&amp; Creativity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Architecture/Methodology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6AE01A-437B-322C-EEEE-3044E32C60B2}"/>
              </a:ext>
            </a:extLst>
          </p:cNvPr>
          <p:cNvSpPr txBox="1"/>
          <p:nvPr/>
        </p:nvSpPr>
        <p:spPr>
          <a:xfrm>
            <a:off x="1388464" y="1448955"/>
            <a:ext cx="941506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just">
              <a:lnSpc>
                <a:spcPct val="150000"/>
              </a:lnSpc>
            </a:pPr>
            <a:r>
              <a:rPr lang="en-IN" sz="2400" dirty="0"/>
              <a:t>Healthcare data can help predict chronic disease risks, but traditional ML models are often difficult to interpret. This project uses disease-specific ML models with Explainable AI (XAI) to provide transparent predictions. The framework supports early risk assessment and data-driven clinical decision-making. It also improves trust and understanding of AI-based healthcare predictions.</a:t>
            </a:r>
          </a:p>
          <a:p>
            <a:pPr algn="just">
              <a:lnSpc>
                <a:spcPct val="150000"/>
              </a:lnSpc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DD7F1-012C-ECD9-7F3F-B57EDD02E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0F49506-52A9-FA4D-7498-F34794D7DA63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435D37-165E-C1D5-FA0B-29B928F2B5EF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974733-29BE-42B5-CFA7-B4C0BF2DC24F}"/>
              </a:ext>
            </a:extLst>
          </p:cNvPr>
          <p:cNvSpPr txBox="1"/>
          <p:nvPr/>
        </p:nvSpPr>
        <p:spPr>
          <a:xfrm>
            <a:off x="594626" y="970350"/>
            <a:ext cx="10835374" cy="6305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To </a:t>
            </a:r>
            <a:r>
              <a:rPr lang="en-IN" sz="2000" dirty="0" err="1"/>
              <a:t>analyze</a:t>
            </a:r>
            <a:r>
              <a:rPr lang="en-IN" sz="2000" dirty="0"/>
              <a:t> and preprocess healthcare datasets using Pandas, NumPy, Matplotlib, Seaborn, and automated profiling techniques to identify data-quality issues, distributions, correlations, and significant risk factors.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To develop and evaluate disease-risk prediction models using Logistic Regression, Decision Tree, Random Forest, and </a:t>
            </a:r>
            <a:r>
              <a:rPr lang="en-IN" sz="2000" dirty="0" err="1"/>
              <a:t>XGBoost</a:t>
            </a:r>
            <a:r>
              <a:rPr lang="en-IN" sz="2000" dirty="0"/>
              <a:t> based on Accuracy, Precision, Recall, F1-Score, and ROC-AUC metrics.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To enhance the interpretability of disease-risk predictions using SHAP-based global and local explanations to identify the key factors influencing individual predictions.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To develop an interactive </a:t>
            </a:r>
            <a:r>
              <a:rPr lang="en-IN" sz="2000" dirty="0" err="1"/>
              <a:t>Streamlit</a:t>
            </a:r>
            <a:r>
              <a:rPr lang="en-IN" sz="2000" dirty="0"/>
              <a:t>-based healthcare analytics dashboard that presents disease-risk probabilities, key risk factors, model performance, and explainable prediction results for effective decision support.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To evaluate and compare the developed models to identify the most accurate and reliable model for early disease-risk prediction.</a:t>
            </a:r>
          </a:p>
          <a:p>
            <a:endParaRPr lang="en-IN" sz="2000" dirty="0"/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483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5E2DB9-8461-15A5-3A1F-FC76B9A78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245" y="1052422"/>
            <a:ext cx="10808898" cy="55209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RESEARCH GAP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4ACDFB-3AFB-9376-14FA-C053AE4FCA09}"/>
              </a:ext>
            </a:extLst>
          </p:cNvPr>
          <p:cNvSpPr txBox="1"/>
          <p:nvPr/>
        </p:nvSpPr>
        <p:spPr>
          <a:xfrm>
            <a:off x="655609" y="1042231"/>
            <a:ext cx="10974918" cy="5727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/>
              <a:t>1. Limited Dataset Diversity</a:t>
            </a:r>
            <a:br>
              <a:rPr lang="en-IN" sz="1600" dirty="0"/>
            </a:br>
            <a:r>
              <a:rPr lang="en-IN" sz="1600" dirty="0"/>
              <a:t>Many existing studies rely on limited or single-disease datasets and single data types, reducing the generalizability and practical applicability of healthcare prediction models.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2. Disease-Specific Approaches</a:t>
            </a:r>
            <a:br>
              <a:rPr lang="en-IN" sz="1600" dirty="0"/>
            </a:br>
            <a:r>
              <a:rPr lang="en-IN" sz="1600" dirty="0"/>
              <a:t>Existing research often focuses on individual diseases or specific datasets, with limited development of a reusable framework that can support multiple disease-risk prediction tasks.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3. Prediction vs. Interpretability</a:t>
            </a:r>
            <a:br>
              <a:rPr lang="en-IN" sz="1600" dirty="0"/>
            </a:br>
            <a:r>
              <a:rPr lang="en-IN" sz="1600" dirty="0"/>
              <a:t>Several studies emphasize predictive performance, while model interpretability, transparency, and user understanding receive comparatively less attention.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4. Lack of an Integrated XAI Workflow</a:t>
            </a:r>
            <a:br>
              <a:rPr lang="en-IN" sz="1600" dirty="0"/>
            </a:br>
            <a:r>
              <a:rPr lang="en-IN" sz="1600" dirty="0"/>
              <a:t>Although SHAP and LIME are widely used, they are often applied independently. There is a need for an integrated workflow combining prediction, global explanations, local explanations, and visualization.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5. Limited Practical Presentation and Decision Support</a:t>
            </a:r>
            <a:br>
              <a:rPr lang="en-IN" sz="1600" dirty="0"/>
            </a:br>
            <a:r>
              <a:rPr lang="en-IN" sz="1600" dirty="0"/>
              <a:t>Existing studies provide limited accessible interfaces for users to understand risk probabilities, contributing factors, and model explanations, creating a gap between model development and practical healthcare decision support.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INNOVATION &amp; CREATIVITY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A099EF-7F58-256E-E573-5CC522AC2D74}"/>
              </a:ext>
            </a:extLst>
          </p:cNvPr>
          <p:cNvSpPr txBox="1"/>
          <p:nvPr/>
        </p:nvSpPr>
        <p:spPr>
          <a:xfrm>
            <a:off x="1094118" y="1301417"/>
            <a:ext cx="10003762" cy="4813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&amp; Creativity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End-to-End Healthcare Analytics</a:t>
            </a:r>
            <a:r>
              <a:rPr lang="en-IN" sz="2000" dirty="0"/>
              <a:t> – Integrates data preprocessing, analysis, prediction, and visualization.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Multi-Model Prediction</a:t>
            </a:r>
            <a:r>
              <a:rPr lang="en-IN" sz="2000" dirty="0"/>
              <a:t> – Compares multiple ML models with </a:t>
            </a:r>
            <a:r>
              <a:rPr lang="en-IN" sz="2000" dirty="0" err="1"/>
              <a:t>XGBoost</a:t>
            </a:r>
            <a:r>
              <a:rPr lang="en-IN" sz="2000" dirty="0"/>
              <a:t> for disease-risk prediction.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Explainable AI</a:t>
            </a:r>
            <a:r>
              <a:rPr lang="en-IN" sz="2000" dirty="0"/>
              <a:t> – Uses SHAP to identify the factors influencing each prediction.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Interactive Dashboard</a:t>
            </a:r>
            <a:r>
              <a:rPr lang="en-IN" sz="2000" dirty="0"/>
              <a:t> – Uses </a:t>
            </a:r>
            <a:r>
              <a:rPr lang="en-IN" sz="2000" dirty="0" err="1"/>
              <a:t>Streamlit</a:t>
            </a:r>
            <a:r>
              <a:rPr lang="en-IN" sz="2000" dirty="0"/>
              <a:t> to provide an easy-to-use healthcare prediction interface.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Visual Risk Insights</a:t>
            </a:r>
            <a:r>
              <a:rPr lang="en-IN" sz="2000" dirty="0"/>
              <a:t> – Presents risk probability, important features, and analytical charts clearly.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NOVALITY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221665-087B-7131-74F3-EF7B93A9E4F0}"/>
              </a:ext>
            </a:extLst>
          </p:cNvPr>
          <p:cNvSpPr txBox="1"/>
          <p:nvPr/>
        </p:nvSpPr>
        <p:spPr>
          <a:xfrm>
            <a:off x="1121434" y="1216325"/>
            <a:ext cx="981686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Multi-Disease Prediction Framework</a:t>
            </a:r>
            <a:r>
              <a:rPr lang="en-IN" dirty="0"/>
              <a:t> – Supports disease-risk prediction across multiple healthcare datasets using different ML models.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Integrated Explainable AI (XAI)</a:t>
            </a:r>
            <a:r>
              <a:rPr lang="en-IN" dirty="0"/>
              <a:t> – Uses SHAP to provide both global and patient-level explanations for model predictions.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Interactive Healthcare Dashboard</a:t>
            </a:r>
            <a:r>
              <a:rPr lang="en-IN" dirty="0"/>
              <a:t> – Provides risk probabilities, important risk factors, model performance, and explanations through a </a:t>
            </a:r>
            <a:r>
              <a:rPr lang="en-IN" dirty="0" err="1"/>
              <a:t>Streamlit</a:t>
            </a:r>
            <a:r>
              <a:rPr lang="en-IN" dirty="0"/>
              <a:t> dashboard.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 err="1"/>
              <a:t>Streamlit</a:t>
            </a:r>
            <a:r>
              <a:rPr lang="en-IN" b="1" dirty="0"/>
              <a:t> Decision-Support Dashboard</a:t>
            </a:r>
            <a:r>
              <a:rPr lang="en-IN" dirty="0"/>
              <a:t> – Provides an interactive interface combining prediction, explanation, and visualization for practical healthcare decision support.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Comparative ML Model Evaluation</a:t>
            </a:r>
            <a:r>
              <a:rPr lang="en-IN" dirty="0"/>
              <a:t> – Compares multiple models, including Logistic Regression, Decision Tree, Random Forest, and </a:t>
            </a:r>
            <a:r>
              <a:rPr lang="en-IN" dirty="0" err="1"/>
              <a:t>XGBoost</a:t>
            </a:r>
            <a:r>
              <a:rPr lang="en-IN" dirty="0"/>
              <a:t>, using standard evaluation metrics.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End-to-End Decision-Support Workflow</a:t>
            </a:r>
            <a:r>
              <a:rPr lang="en-IN" dirty="0"/>
              <a:t> – Integrates data preprocessing → prediction → explanation → visualization → clinical decision support in a single framework.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3F743-01B3-3879-0894-974C73371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91A521F-E63E-5FCC-99E4-7E3CD02E6FC0}"/>
              </a:ext>
            </a:extLst>
          </p:cNvPr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037B9E-5097-BABA-3410-DB3EBA8C5529}"/>
              </a:ext>
            </a:extLst>
          </p:cNvPr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FEASIBILITY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DD4171-24E3-AAC9-EBFF-535BA2141C3B}"/>
              </a:ext>
            </a:extLst>
          </p:cNvPr>
          <p:cNvSpPr txBox="1"/>
          <p:nvPr/>
        </p:nvSpPr>
        <p:spPr>
          <a:xfrm>
            <a:off x="300524" y="1173079"/>
            <a:ext cx="5795476" cy="5450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Technical Feasibility</a:t>
            </a:r>
          </a:p>
          <a:p>
            <a:pPr>
              <a:lnSpc>
                <a:spcPct val="150000"/>
              </a:lnSpc>
            </a:pPr>
            <a:r>
              <a:rPr lang="en-IN" dirty="0"/>
              <a:t>The project can be implemented using publicly available healthcare datasets and Python-based open-source libraries such as Pandas, Scikit-learn, </a:t>
            </a:r>
            <a:r>
              <a:rPr lang="en-IN" dirty="0" err="1"/>
              <a:t>XGBoost</a:t>
            </a:r>
            <a:r>
              <a:rPr lang="en-IN" dirty="0"/>
              <a:t>, SHAP and </a:t>
            </a:r>
            <a:r>
              <a:rPr lang="en-IN" dirty="0" err="1"/>
              <a:t>Streamlit</a:t>
            </a:r>
            <a:r>
              <a:rPr lang="en-IN" dirty="0"/>
              <a:t>.</a:t>
            </a:r>
          </a:p>
          <a:p>
            <a:pPr>
              <a:lnSpc>
                <a:spcPct val="150000"/>
              </a:lnSpc>
            </a:pPr>
            <a:r>
              <a:rPr lang="en-IN" b="1" dirty="0"/>
              <a:t>Data Feasibility</a:t>
            </a:r>
          </a:p>
          <a:p>
            <a:pPr>
              <a:lnSpc>
                <a:spcPct val="150000"/>
              </a:lnSpc>
            </a:pPr>
            <a:r>
              <a:rPr lang="en-IN" dirty="0"/>
              <a:t>Public benchmark datasets are available for heart disease, diabetes and stroke prediction, making initial experimentation possible without requiring private hospital records.</a:t>
            </a:r>
          </a:p>
          <a:p>
            <a:pPr>
              <a:lnSpc>
                <a:spcPct val="150000"/>
              </a:lnSpc>
            </a:pPr>
            <a:r>
              <a:rPr lang="en-IN" b="1" dirty="0"/>
              <a:t>Implementation Feasibility</a:t>
            </a:r>
          </a:p>
          <a:p>
            <a:pPr>
              <a:lnSpc>
                <a:spcPct val="150000"/>
              </a:lnSpc>
            </a:pPr>
            <a:r>
              <a:rPr lang="en-IN" dirty="0"/>
              <a:t>The system can initially be developed using Jupyter Notebook/VS Code and subsequently integrated into a </a:t>
            </a:r>
            <a:r>
              <a:rPr lang="en-IN" dirty="0" err="1"/>
              <a:t>Streamlit</a:t>
            </a:r>
            <a:r>
              <a:rPr lang="en-IN" dirty="0"/>
              <a:t> dashboard.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F9FAB7-7C4B-8576-6C4F-4CE96AC726D7}"/>
              </a:ext>
            </a:extLst>
          </p:cNvPr>
          <p:cNvSpPr txBox="1"/>
          <p:nvPr/>
        </p:nvSpPr>
        <p:spPr>
          <a:xfrm>
            <a:off x="6513093" y="1173079"/>
            <a:ext cx="494096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Time Feasibility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 → Literature Survey &amp; Dataset Collection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 → Data Cleaning &amp; EDA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3 → Feature Engineering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4 → ML Model Development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5 → Model Evaluation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6 → SHAP Explainability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7 →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8 → Testing, Documentation &amp; Final Report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1414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306BC-0D02-72B5-7962-7CD7174D9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71F66FC-34C6-F1E3-D83C-E29590F59346}"/>
              </a:ext>
            </a:extLst>
          </p:cNvPr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5E27E7-CF87-770C-3DCB-07F30CC6929E}"/>
              </a:ext>
            </a:extLst>
          </p:cNvPr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PROJECT PLAN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1611AC-24F1-F80B-BF63-D420CF315E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78" t="17862" r="1988" b="3232"/>
          <a:stretch>
            <a:fillRect/>
          </a:stretch>
        </p:blipFill>
        <p:spPr>
          <a:xfrm>
            <a:off x="307675" y="1009289"/>
            <a:ext cx="11576650" cy="5556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42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09145" y="317791"/>
            <a:ext cx="671039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chemeClr val="bg1"/>
                </a:solidFill>
              </a:rPr>
              <a:t>PROPOSED ARCHITECTURE/METHODOLOGY</a:t>
            </a:r>
          </a:p>
        </p:txBody>
      </p:sp>
      <p:pic>
        <p:nvPicPr>
          <p:cNvPr id="4" name="Picture 3" descr="Generated image">
            <a:extLst>
              <a:ext uri="{FF2B5EF4-FFF2-40B4-BE49-F238E27FC236}">
                <a16:creationId xmlns:a16="http://schemas.microsoft.com/office/drawing/2014/main" id="{8CE6AC75-C435-FE8D-C26F-E43FCD3ED8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59" t="6386"/>
          <a:stretch>
            <a:fillRect/>
          </a:stretch>
        </p:blipFill>
        <p:spPr>
          <a:xfrm>
            <a:off x="474451" y="865987"/>
            <a:ext cx="6512945" cy="58281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ECC9EB-F3B7-FBFF-1602-137648FFF8E9}"/>
              </a:ext>
            </a:extLst>
          </p:cNvPr>
          <p:cNvSpPr txBox="1"/>
          <p:nvPr/>
        </p:nvSpPr>
        <p:spPr>
          <a:xfrm>
            <a:off x="8134710" y="1785669"/>
            <a:ext cx="347644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Workflow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Data Collection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Data Preprocessing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EDA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Feature Selection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Train–Test Split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ML Model Training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Model Evaluation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XAI – SHAP/LIME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Dashboard &amp; Visualization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Risk Prediction &amp; Insights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Research Conclusion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</TotalTime>
  <Words>849</Words>
  <Application>Microsoft Office PowerPoint</Application>
  <PresentationFormat>Widescreen</PresentationFormat>
  <Paragraphs>87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       DATA ANALYTICS AND VISUALIZATION (24DSB3101)  Machine Learning-Based Healthcare Data Analytics for Early Disease Risk Predication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CH BHARGAVI</cp:lastModifiedBy>
  <cp:revision>29</cp:revision>
  <dcterms:created xsi:type="dcterms:W3CDTF">2024-08-29T05:25:00Z</dcterms:created>
  <dcterms:modified xsi:type="dcterms:W3CDTF">2026-08-08T16:23:21Z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